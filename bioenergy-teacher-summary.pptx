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2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980"/>
              </a:lnSpc>
              <a:spcAft>
                <a:spcPts val="0"/>
              </a:spcAft>
              <a:defRPr sz="4600" b="1">
                <a:solidFill>
                  <a:srgbClr val="FFFFFF"/>
                </a:solidFill>
                <a:latin typeface="微軟正黑體"/>
              </a:defRPr>
            </a:pPr>
            <a:r>
              <a:t>🌱 生質能校園大亨：微電網保衛戰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97BC62"/>
                </a:solidFill>
                <a:latin typeface="微軟正黑體"/>
              </a:defRPr>
            </a:pPr>
            <a:r>
              <a:t>Bioenergy Campus Tycoon: Microgrid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0312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E8E8E0"/>
                </a:solidFill>
                <a:latin typeface="微軟正黑體"/>
              </a:defRPr>
            </a:pPr>
            <a:r>
              <a:t>教師活動後總結簡報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6B6B6B"/>
                </a:solidFill>
                <a:latin typeface="微軟正黑體"/>
              </a:defRPr>
            </a:pPr>
            <a:r>
              <a:t>適用對象：高中學生  |  活動時間：15 分鐘遊戲 + 25 分鐘討論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活動回顧 — 你們剛剛做了什麼？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C5F2D"/>
                </a:solidFill>
                <a:latin typeface="微軟正黑體"/>
              </a:defRPr>
            </a:pPr>
            <a:r>
              <a:t>🗑️ 收集與前處理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校園廚餘、枯枝、畜牧糞水 → 破碎、去砂、混合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調整 C/N 比到最佳範圍（20-30）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64008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C5F2D"/>
                </a:solidFill>
                <a:latin typeface="微軟正黑體"/>
              </a:defRPr>
            </a:pPr>
            <a:r>
              <a:t>🔬 厭氧消化與氣化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消化槽：有機物 → 沼氣（CH4 + CO2）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氣化爐：乾燥生物質 → 合成氣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303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64008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C5F2D"/>
                </a:solidFill>
                <a:latin typeface="微軟正黑體"/>
              </a:defRPr>
            </a:pPr>
            <a:r>
              <a:t>⚡ 發電與供電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沼氣/合成氣 → 發電機 → 電力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拉電線到校園建築，建立微電網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3035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108960"/>
            <a:ext cx="64008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C5F2D"/>
                </a:solidFill>
                <a:latin typeface="微軟正黑體"/>
              </a:defRPr>
            </a:pPr>
            <a:r>
              <a:t>🏘️ 外部成本管理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臭味、噪音、設備距離、砍樹抗議</a:t>
            </a:r>
          </a:p>
          <a:p>
            <a:pPr algn="l">
              <a:lnSpc>
                <a:spcPts val="21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洗滌塔可降低排放，但需要資金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💡 討論：你的系統最終成績如何？你覺得最大的挑戰是什麼？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核心知識 — 厭氧消化原理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0292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5F2D"/>
                </a:solidFill>
                <a:latin typeface="微軟正黑體"/>
              </a:defRPr>
            </a:pPr>
            <a:r>
              <a:t>🔄 四階段反應流程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03120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75688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微軟正黑體"/>
              </a:defRPr>
            </a:pPr>
            <a:r>
              <a:t>水解 Hydrolysis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450592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大分子有機物 → 單糖、胺基酸、脂肪酸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2560320"/>
            <a:ext cx="36576" cy="4114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3200400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72968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微軟正黑體"/>
              </a:defRPr>
            </a:pPr>
            <a:r>
              <a:t>酸化 Acidogenesis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47872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單糖等 → 揮發性脂肪酸（VFA）+ CO2 + H2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1872" y="3657600"/>
            <a:ext cx="36576" cy="4114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4297680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70248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微軟正黑體"/>
              </a:defRPr>
            </a:pPr>
            <a:r>
              <a:t>乙酸化 Acetogenesis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45152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VFA → 乙酸 + CO2 + H2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754880"/>
            <a:ext cx="36576" cy="4114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" y="5394960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367528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微軟正黑體"/>
              </a:defRPr>
            </a:pPr>
            <a:r>
              <a:t>甲烷化 Methanogenesis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742432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乙酸 + CO2 + H2 → CH4 + CO2（沼氣）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371600"/>
            <a:ext cx="5120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1371600"/>
            <a:ext cx="64008" cy="23774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146304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88D2A"/>
                </a:solidFill>
                <a:latin typeface="微軟正黑體"/>
              </a:defRPr>
            </a:pPr>
            <a:r>
              <a:t>📊 關鍵參數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0116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C/N 比：最佳 20-30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pH 值：維持 6.8-7.4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有機負荷率（OLR）：進料速度控制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溫度：中溫消化 35-40°C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023360"/>
            <a:ext cx="5120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4023360"/>
            <a:ext cx="64008" cy="237744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411480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A936F"/>
                </a:solidFill>
                <a:latin typeface="微軟正黑體"/>
              </a:defRPr>
            </a:pPr>
            <a:r>
              <a:t>🎮 遊戲中的對應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63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混合槽決定 C/N 比 → 影響產氣量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pH 過低 = 酸化事故 → 需花錢修復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進料太快 → 穩定度下降、系統崩潰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脫硫器 → 保護發電機、降低排放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外部成本與社會影響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64008" cy="10972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424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88D2A"/>
                </a:solidFill>
                <a:latin typeface="微軟正黑體"/>
              </a:defRPr>
            </a:pPr>
            <a:r>
              <a:t>🔑 什麼是外部成本（Externality）？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424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1E1E1E"/>
                </a:solidFill>
                <a:latin typeface="微軟正黑體"/>
              </a:defRPr>
            </a:pPr>
            <a:r>
              <a:t>生產或消費行為對第三方造成的成本，但未反映在市場價格中。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53035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64008" cy="13258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微軟正黑體"/>
              </a:defRPr>
            </a:pPr>
            <a:r>
              <a:t>💨 臭味排放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現實：消化槽與處理設備的氣味擴散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936F"/>
                </a:solidFill>
                <a:latin typeface="微軟正黑體"/>
              </a:defRPr>
            </a:pPr>
            <a:r>
              <a:t>遊戲：抗議值上升，嚴重時被迫停工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651760"/>
            <a:ext cx="53035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2651760"/>
            <a:ext cx="64008" cy="13258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7432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微軟正黑體"/>
              </a:defRPr>
            </a:pPr>
            <a:r>
              <a:t>🔊 噪音汙染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108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現實：發電機、破碎機運轉噪音影響教學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474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936F"/>
                </a:solidFill>
                <a:latin typeface="微軟正黑體"/>
              </a:defRPr>
            </a:pPr>
            <a:r>
              <a:t>遊戲：設備數量越多，噪音成本越高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53035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64008" cy="1325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微軟正黑體"/>
              </a:defRPr>
            </a:pPr>
            <a:r>
              <a:t>📏 距離過近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現實：設備離教室太近造成安全問題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936F"/>
                </a:solidFill>
                <a:latin typeface="微軟正黑體"/>
              </a:defRPr>
            </a:pPr>
            <a:r>
              <a:t>遊戲：設備與校園建築距離影響抗議值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4160520"/>
            <a:ext cx="530352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59" y="4160520"/>
            <a:ext cx="64008" cy="13258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42519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微軟正黑體"/>
              </a:defRPr>
            </a:pPr>
            <a:r>
              <a:t>🌳 砍樹抗議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4617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現實：移除校園綠地引發師生反彈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9834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1A936F"/>
                </a:solidFill>
                <a:latin typeface="微軟正黑體"/>
              </a:defRPr>
            </a:pPr>
            <a:r>
              <a:t>遊戲：在樹木綠地上建設額外增加抗議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64240" cy="7772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💡 討論：鄰避效應（NIMBY）— 你支持在「你家附近」蓋生質能設施嗎？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微電網與能源韌性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64008" cy="25603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5F2D"/>
                </a:solidFill>
                <a:latin typeface="微軟正黑體"/>
              </a:defRPr>
            </a:pPr>
            <a:r>
              <a:t>🔋 什麼是微電網？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小規模、可獨立運作的電力系統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平時與主電網並聯，災害時可「孤島運轉」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整合分散式發電（太陽能、生質能、儲能）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台灣案例：綠島微電網、澎湖智慧電網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256032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88D2A"/>
                </a:solidFill>
                <a:latin typeface="微軟正黑體"/>
              </a:defRPr>
            </a:pPr>
            <a:r>
              <a:t>🛡️ 能源韌性（Energy Resilience）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韌性 = 系統承受衝擊並恢復的能力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極端氣候（颱風、地震）→ 大規模停電風險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2021 台灣 513/517 大停電影響數百萬戶</a:t>
            </a:r>
          </a:p>
          <a:p>
            <a:pPr algn="l">
              <a:lnSpc>
                <a:spcPts val="240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t>關鍵設施（醫院、學校）需要備援電力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64008" cy="15544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A936F"/>
                </a:solidFill>
                <a:latin typeface="微軟正黑體"/>
              </a:defRPr>
            </a:pPr>
            <a:r>
              <a:t>🎮 遊戲中的設計邏輯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290" y="46634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rPr dirty="0" err="1"/>
              <a:t>平時接電微量加分</a:t>
            </a:r>
            <a:r>
              <a:rPr dirty="0"/>
              <a:t> → </a:t>
            </a:r>
            <a:r>
              <a:rPr dirty="0" err="1"/>
              <a:t>反映日常備援的「保險」價值</a:t>
            </a:r>
            <a:endParaRPr dirty="0"/>
          </a:p>
          <a:p>
            <a:pPr algn="l">
              <a:lnSpc>
                <a:spcPts val="225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rPr dirty="0" err="1"/>
              <a:t>停電時接電大量加分</a:t>
            </a:r>
            <a:r>
              <a:rPr dirty="0"/>
              <a:t> → </a:t>
            </a:r>
            <a:r>
              <a:rPr dirty="0" err="1"/>
              <a:t>災害時微電網價值才真正顯現</a:t>
            </a:r>
            <a:endParaRPr dirty="0"/>
          </a:p>
          <a:p>
            <a:pPr algn="l">
              <a:lnSpc>
                <a:spcPts val="2250"/>
              </a:lnSpc>
              <a:spcAft>
                <a:spcPts val="600"/>
              </a:spcAft>
              <a:defRPr sz="1500" b="0">
                <a:solidFill>
                  <a:srgbClr val="1E1E1E"/>
                </a:solidFill>
                <a:latin typeface="微軟正黑體"/>
              </a:defRPr>
            </a:pPr>
            <a:r>
              <a:rPr dirty="0"/>
              <a:t>「</a:t>
            </a:r>
            <a:r>
              <a:rPr dirty="0" err="1"/>
              <a:t>必接任務建築</a:t>
            </a:r>
            <a:r>
              <a:rPr dirty="0"/>
              <a:t>」→ </a:t>
            </a:r>
            <a:r>
              <a:rPr dirty="0" err="1"/>
              <a:t>模擬現實中優先保障的關鍵設施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48640" y="5933184"/>
            <a:ext cx="11064240" cy="7772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6151365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rPr dirty="0"/>
              <a:t>💡 </a:t>
            </a:r>
            <a:r>
              <a:rPr dirty="0" err="1"/>
              <a:t>討論：如果你是校長，停電時最優先供電的三棟建築是什麼</a:t>
            </a:r>
            <a:r>
              <a:rPr dirty="0"/>
              <a:t>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計分邏輯 — 永續發展的多面向評估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772400" cy="4572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評分項目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258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權重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258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說明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能源產出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0136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0136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總發電量與供電穩定性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7772400" cy="438912"/>
          </a:xfrm>
          <a:prstGeom prst="rect">
            <a:avLst/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系統韌性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4028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40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停電時的供電能力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15184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67919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經濟效率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67919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67919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資金運用與維護成本控管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54096"/>
            <a:ext cx="7772400" cy="438912"/>
          </a:xfrm>
          <a:prstGeom prst="rect">
            <a:avLst/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11810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系統穩定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118104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118104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消化槽穩定度與 pH 控制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93008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55701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時間獎勵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557016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557016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提前完成設計的效率獎勵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7772400" cy="438912"/>
          </a:xfrm>
          <a:prstGeom prst="rect">
            <a:avLst/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995928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外部成本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995928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995928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抗議值控制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70832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43484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物流效率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4348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4348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管線效率與路徑規劃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09744"/>
            <a:ext cx="7772400" cy="438912"/>
          </a:xfrm>
          <a:prstGeom prst="rect">
            <a:avLst/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87375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電線覆蓋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873752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87375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校園建築接電覆蓋率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48656"/>
            <a:ext cx="7772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312664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資源利用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312664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312664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原料使用率與多樣性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687568"/>
            <a:ext cx="7772400" cy="438912"/>
          </a:xfrm>
          <a:prstGeom prst="rect">
            <a:avLst/>
          </a:prstGeom>
          <a:solidFill>
            <a:srgbClr val="E8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751576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1E1E"/>
                </a:solidFill>
                <a:latin typeface="微軟正黑體"/>
              </a:defRPr>
            </a:pPr>
            <a:r>
              <a:t>C/N 優化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751576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E88D2A"/>
                </a:solidFill>
                <a:latin typeface="微軟正黑體"/>
              </a:defRPr>
            </a:pPr>
            <a:r>
              <a:t>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751576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C/N 比控制在最佳範圍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1280160"/>
            <a:ext cx="29260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686800" y="1280160"/>
            <a:ext cx="64008" cy="521208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15400" y="141732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A936F"/>
                </a:solidFill>
                <a:latin typeface="微軟正黑體"/>
              </a:defRPr>
            </a:pPr>
            <a:r>
              <a:t>🎯 設計理念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201168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沒有「滿分策略」— 每個決策都有取捨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能源＋韌性佔 45% — 強調供電核心目標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外部成本 5% — 但抗議過高會觸發停工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時間獎勵 10% — 鼓勵決策效率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呼應 SDG 7、11、13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現實連結 — 台灣生質能發展現況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2C5F2D"/>
                </a:solidFill>
                <a:latin typeface="微軟正黑體"/>
              </a:defRPr>
            </a:pPr>
            <a:r>
              <a:t>7.7%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生質能占再生能源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26517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E88D2A"/>
                </a:solidFill>
                <a:latin typeface="微軟正黑體"/>
              </a:defRPr>
            </a:pPr>
            <a:r>
              <a:rPr dirty="0"/>
              <a:t>850萬噸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年廚餘產生量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1A936F"/>
                </a:solidFill>
                <a:latin typeface="微軟正黑體"/>
              </a:defRPr>
            </a:pPr>
            <a:r>
              <a:t>160+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沼氣發電廠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97BC62"/>
                </a:solidFill>
                <a:latin typeface="微軟正黑體"/>
              </a:defRPr>
            </a:pPr>
            <a:r>
              <a:t>2050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65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B6B6B"/>
                </a:solidFill>
                <a:latin typeface="微軟正黑體"/>
              </a:defRPr>
            </a:pPr>
            <a:r>
              <a:t>淨零排放目標年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64008" cy="2286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2C5F2D"/>
                </a:solidFill>
                <a:latin typeface="微軟正黑體"/>
              </a:defRPr>
            </a:pPr>
            <a:r>
              <a:t>🐄 畜牧沼氣發電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全台約 160 座養豬場沼氣發電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豬糞尿厭氧消化產生沼氣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減少溫室氣體排放並發電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5603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560320"/>
            <a:ext cx="64008" cy="2286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E88D2A"/>
                </a:solidFill>
                <a:latin typeface="微軟正黑體"/>
              </a:defRPr>
            </a:pPr>
            <a:r>
              <a:t>🏙️ 都市廚餘發電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54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台北市生質能中心（外雙溪）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每日處理 200 噸廚餘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厭氧消化產沼氣發電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5603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560320"/>
            <a:ext cx="64008" cy="228600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265176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A936F"/>
                </a:solidFill>
                <a:latin typeface="微軟正黑體"/>
              </a:defRPr>
            </a:pPr>
            <a:r>
              <a:t>🌾 農業廢棄物利用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154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稻稈、蔗渣等氣化或發電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花蓮光華園區案例</a:t>
            </a:r>
          </a:p>
          <a:p>
            <a:pPr algn="l">
              <a:lnSpc>
                <a:spcPts val="2240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結合在地農業的循環經濟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64008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2C5F2D"/>
                </a:solidFill>
                <a:latin typeface="微軟正黑體"/>
              </a:defRPr>
            </a:pPr>
            <a:r>
              <a:t>🌍 連結聯合國永續發展目標 SDGs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SDG 7 可負擔的潔淨能源 → 生質能是重要的再生能源來源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SDG 11 永續城鄉 → 微電網提升社區能源韌性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SDG 12 負責任消費與生產 → 廢棄物轉化為資源的循環經濟</a:t>
            </a:r>
          </a:p>
          <a:p>
            <a:pPr algn="l">
              <a:lnSpc>
                <a:spcPts val="1959"/>
              </a:lnSpc>
              <a:spcAft>
                <a:spcPts val="600"/>
              </a:spcAft>
              <a:defRPr sz="1400" b="0">
                <a:solidFill>
                  <a:srgbClr val="1E1E1E"/>
                </a:solidFill>
                <a:latin typeface="微軟正黑體"/>
              </a:defRPr>
            </a:pPr>
            <a:r>
              <a:t>SDG 13 氣候行動 → 減少化石燃料依賴與溫室氣體排放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97BC62"/>
                </a:solidFill>
                <a:latin typeface="微軟正黑體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2C5F2D"/>
                </a:solidFill>
                <a:latin typeface="微軟正黑體"/>
              </a:defRPr>
            </a:pPr>
            <a:r>
              <a:t>反思與延伸討論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64008" cy="1143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spcAft>
                <a:spcPts val="0"/>
              </a:spcAft>
              <a:defRPr sz="1800" b="0">
                <a:solidFill>
                  <a:srgbClr val="1E1E1E"/>
                </a:solidFill>
                <a:latin typeface="微軟正黑體"/>
              </a:defRPr>
            </a:pPr>
            <a:r>
              <a:t>如果遊戲增加「太陽能板」和「小型風機」選項，你的策略會怎麼改變？生質能與其他再生能源如何互補？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39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64008" cy="114300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880359"/>
            <a:ext cx="548640" cy="548640"/>
          </a:xfrm>
          <a:prstGeom prst="ellipse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39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spcAft>
                <a:spcPts val="0"/>
              </a:spcAft>
              <a:defRPr sz="1800" b="0">
                <a:solidFill>
                  <a:srgbClr val="1E1E1E"/>
                </a:solidFill>
                <a:latin typeface="微軟正黑體"/>
              </a:defRPr>
            </a:pPr>
            <a:r>
              <a:t>遊戲中的「抗議值」對應現實中的什麼？如果你是能源開發商，會如何與社區溝通？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64008" cy="1143000"/>
          </a:xfrm>
          <a:prstGeom prst="rect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1A9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6052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spcAft>
                <a:spcPts val="0"/>
              </a:spcAft>
              <a:defRPr sz="1800" b="0">
                <a:solidFill>
                  <a:srgbClr val="1E1E1E"/>
                </a:solidFill>
                <a:latin typeface="微軟正黑體"/>
              </a:defRPr>
            </a:pPr>
            <a:r>
              <a:t>台灣 2050 淨零排放目標中，生質能可以扮演什麼角色？它的限制是什麼？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64008" cy="1143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553212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8640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0"/>
              </a:lnSpc>
              <a:spcAft>
                <a:spcPts val="0"/>
              </a:spcAft>
              <a:defRPr sz="1800" b="0">
                <a:solidFill>
                  <a:srgbClr val="1E1E1E"/>
                </a:solidFill>
                <a:latin typeface="微軟正黑體"/>
              </a:defRPr>
            </a:pPr>
            <a:r>
              <a:t>你的學校有哪些廢棄物可以用來發電？請設計一個校園生質能系統的初步方案。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微軟正黑體"/>
              </a:defRPr>
            </a:pPr>
            <a:r>
              <a:t>🌱 能源轉型，從校園開始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97BC62"/>
                </a:solidFill>
                <a:latin typeface="微軟正黑體"/>
              </a:defRPr>
            </a:pPr>
            <a:r>
              <a:t>每一個設計決策，都在為永續未來投票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E8E8E0"/>
                </a:solidFill>
                <a:latin typeface="微軟正黑體"/>
              </a:defRPr>
            </a:pPr>
            <a:r>
              <a:t>請完成學習單，寫下你的反思與收穫！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667512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521208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📝 作業提醒：完成「課後反思學習單」並於下週繳交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寬螢幕</PresentationFormat>
  <Paragraphs>160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原佑 劉</cp:lastModifiedBy>
  <cp:revision>2</cp:revision>
  <dcterms:created xsi:type="dcterms:W3CDTF">2013-01-27T09:14:16Z</dcterms:created>
  <dcterms:modified xsi:type="dcterms:W3CDTF">2026-04-01T03:42:05Z</dcterms:modified>
  <cp:category/>
</cp:coreProperties>
</file>